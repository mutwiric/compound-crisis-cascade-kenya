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6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F35"/>
    <a:srgbClr val="0A1628"/>
    <a:srgbClr val="0E5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87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7380" y="41148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-3131" y="0"/>
            <a:ext cx="5029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22" y="3111778"/>
            <a:ext cx="52214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Crisis Cascade - Kenya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04905" y="3494135"/>
            <a:ext cx="551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rainfall deficits precede food price spikes,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 turn precede conflict escalation?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1148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82880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24612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Mutwiri  ·  BI Analyst &amp; Data Scientist  ·  Nairobi, Kenya</a:t>
            </a:r>
            <a:endParaRPr lang="en-US" sz="8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88F64C0-8473-5F7D-7044-B3048F6C2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4864"/>
            <a:ext cx="3611879" cy="4997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3758184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3231214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" y="1069848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years of data. Three crises. 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1148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6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427482" y="2122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87752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6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600" dirty="0"/>
          </a:p>
        </p:txBody>
      </p:sp>
      <p:sp>
        <p:nvSpPr>
          <p:cNvPr id="37" name="Text 35"/>
          <p:cNvSpPr/>
          <p:nvPr/>
        </p:nvSpPr>
        <p:spPr>
          <a:xfrm>
            <a:off x="2555748" y="2122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(2006-2025)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64024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6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4700016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from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HDX HAPI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0296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6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0" dirty="0"/>
          </a:p>
        </p:txBody>
      </p:sp>
      <p:sp>
        <p:nvSpPr>
          <p:cNvPr id="41" name="Text 39"/>
          <p:cNvSpPr/>
          <p:nvPr/>
        </p:nvSpPr>
        <p:spPr>
          <a:xfrm>
            <a:off x="6812280" y="2122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counties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2697480"/>
            <a:ext cx="8321040" cy="0"/>
          </a:xfrm>
          <a:prstGeom prst="line">
            <a:avLst/>
          </a:prstGeom>
          <a:noFill/>
          <a:ln w="6350">
            <a:solidFill>
              <a:srgbClr val="3A50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2887249"/>
            <a:ext cx="8033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loses an estimated 2-3% of GDP annually to drought-related crises. The 2011 famine, 2017 ASAL drought, and 2022 La Nina event each triggered national emergencies. Each one followed the same sequence.</a:t>
            </a: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endParaRPr lang="en-US" sz="10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whether that sequence is statistically provable, and whether it can be exploited for anticipatory action.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901184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Compound Crisis Cascade in Kenya: Analyzing Climate, Prices, and Conflict Dynamics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causal cascade.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20039" y="1444752"/>
            <a:ext cx="8535861" cy="2468880"/>
          </a:xfrm>
          <a:prstGeom prst="rect">
            <a:avLst/>
          </a:prstGeom>
          <a:solidFill>
            <a:srgbClr val="0E5F75">
              <a:alpha val="34902"/>
            </a:srgbClr>
          </a:solidFill>
          <a:ln w="12700">
            <a:solidFill>
              <a:srgbClr val="0E5F75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1444752"/>
            <a:ext cx="0" cy="2468880"/>
          </a:xfrm>
          <a:prstGeom prst="line">
            <a:avLst/>
          </a:prstGeom>
          <a:noFill/>
          <a:ln w="1016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1444752"/>
            <a:ext cx="0" cy="2468880"/>
          </a:xfrm>
          <a:prstGeom prst="line">
            <a:avLst/>
          </a:prstGeom>
          <a:noFill/>
          <a:ln w="1016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550408" y="2423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514600" y="15361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" y="1600200"/>
            <a:ext cx="594360" cy="594360"/>
          </a:xfrm>
          <a:prstGeom prst="ellipse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2BBCD4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28016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Deficit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80160" y="1965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&lt; 80%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2648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Satellite-derived CHIRPS dekadal anomaly falls below humanitarian early warning threshold. Pasture dries. Livestock values drop.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12080" y="15361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1600200"/>
            <a:ext cx="594360" cy="594360"/>
          </a:xfrm>
          <a:prstGeom prst="ellipse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2BBCD4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397764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Spike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77640" y="1965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months lag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10128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maize prices rise 40-80%. Purchasing power collapses in counties with low market integration and no income buffers.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09560" y="15361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89320" y="1600200"/>
            <a:ext cx="594360" cy="594360"/>
          </a:xfrm>
          <a:prstGeom prst="ellipse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2BBCD4">
                <a:alpha val="7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675120" y="1645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Escalation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75120" y="1965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months lag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07608" y="2359152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Intercommunal violence over shrinking pastoral resources. Temporal precedence confirmed in Marsabit; marginal in Turkana. Reverse direction non-significant in all counties.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 on structural vulnerability (MPI &gt;= 0.30). The cascade is absent in medium and low-vulnerability counties.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Compound Crisis Cascade in Kenya: Analyzing Climate, Prices, and Conflict Dynamics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has a reason.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7472" y="123444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123444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deflation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prices more than doubled 2006-2025. Without deflation, drought-year spikes conflate real food stress with general inflation.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82112" y="123444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82112" y="123444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 exclusion (2007-08)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19272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Post-election violence produced &gt;140 events/month. A political outlier inflates the price-conflict correlation spuriously.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16752" y="123444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16752" y="123444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53912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53912" y="17099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 requires stationary series. Prices and conflict carry unit roots in levels; differenced before testing.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" y="292608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292608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stratification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" y="34015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nationally averages out the cascade signal. The mechanism is conditional on MPI &gt;= 0.30. It disappears in low-vulnerability counties.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182112" y="292608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82112" y="292608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9272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disaggregation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19272" y="34015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Battles, violence against civilians, and explosions only. Protests and strategic developments excluded since they have different causal mechanisms.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16752" y="2926080"/>
            <a:ext cx="2633472" cy="15087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16752" y="2926080"/>
            <a:ext cx="2633472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53912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rank uncertainty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53912" y="34015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iterations, 95% CI. VRI county ranks are expressed as ranges not point estimates. Mid-tier counties with overlapping CIs are flagged.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Compound Crisis Cascade in Kenya: Analyzing Climate, Prices, and Conflict Dynamics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2331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7472" y="1207008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1207008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" y="1389888"/>
            <a:ext cx="384048" cy="384048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7552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deficits precede price spikes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7552" y="17373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2-3 months lag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" y="20299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peaks at lag 2-3 months. Temporal precedence confirmed in the deficit-to-price direction. Reverse direction not significant.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1207008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207008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1389888"/>
            <a:ext cx="384048" cy="384048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9496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spikes precede conflict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94960" y="17373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3-4 months lag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20299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precedence confirmed in Marsabit (p&lt;0.05, lag 1). Marginal in Turkana (p=0.073). Absent in Mandera (cross-border price dynamics suspected). Reverse direction non-significant in all counties.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" y="2962656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2962656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" y="3145536"/>
            <a:ext cx="384048" cy="384048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87552" y="31455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only in 7 counties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7552" y="34930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&gt;= 0.30 threshold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632" y="37856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two-link cascade is absent in medium and low-vulnerability counties. High-vulnerability ASAL counties are the only counties where both links hold.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2962656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2942239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3145536"/>
            <a:ext cx="384048" cy="384048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394960" y="31455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drought raises the price floor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94960" y="34930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 effect, cumulative stress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92040" y="37856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maize prices do not return to pre-shock levels after 2011 or 2017. Successive drought cycles compound purchasing power stress permanently.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Compound Crisis Cascade in Kenya: Analyzing Climate, Prices, and Conflict Dynamics</a:t>
            </a:r>
            <a:endParaRPr 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76689-7163-A4AA-EA78-C9D9DBAFBD22}"/>
              </a:ext>
            </a:extLst>
          </p:cNvPr>
          <p:cNvSpPr txBox="1"/>
          <p:nvPr/>
        </p:nvSpPr>
        <p:spPr>
          <a:xfrm>
            <a:off x="438912" y="464996"/>
            <a:ext cx="4578262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/>
          <p:nvPr/>
        </p:nvSpPr>
        <p:spPr>
          <a:xfrm>
            <a:off x="700000" y="18288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00" b="1" dirty="0">
                <a:solidFill>
                  <a:srgbClr val="1B8CA8"/>
                </a:solidFill>
              </a:rPr>
              <a:t>STATISTICAL EVIDENCE</a:t>
            </a:r>
          </a:p>
        </p:txBody>
      </p:sp>
      <p:sp>
        <p:nvSpPr>
          <p:cNvPr id="3" name="Sp3"/>
          <p:cNvSpPr/>
          <p:nvPr/>
        </p:nvSpPr>
        <p:spPr>
          <a:xfrm>
            <a:off x="700000" y="457200"/>
            <a:ext cx="5700000" cy="5143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900" b="1" dirty="0">
                <a:solidFill>
                  <a:srgbClr val="FFFFFF"/>
                </a:solidFill>
              </a:rPr>
              <a:t>Granger precedence results by county and link.</a:t>
            </a:r>
          </a:p>
        </p:txBody>
      </p:sp>
      <p:sp>
        <p:nvSpPr>
          <p:cNvPr id="4" name="HBg"/>
          <p:cNvSpPr/>
          <p:nvPr/>
        </p:nvSpPr>
        <p:spPr>
          <a:xfrm>
            <a:off x="700000" y="1050000"/>
            <a:ext cx="5700000" cy="240000"/>
          </a:xfrm>
          <a:prstGeom prst="rect">
            <a:avLst/>
          </a:prstGeom>
          <a:solidFill>
            <a:srgbClr val="1B8CA8">
              <a:alpha val="40000"/>
            </a:srgbClr>
          </a:solidFill>
          <a:ln>
            <a:noFill/>
          </a:ln>
        </p:spPr>
      </p:sp>
      <p:sp>
        <p:nvSpPr>
          <p:cNvPr id="5" name="Sp5"/>
          <p:cNvSpPr/>
          <p:nvPr/>
        </p:nvSpPr>
        <p:spPr>
          <a:xfrm>
            <a:off x="700000" y="1053000"/>
            <a:ext cx="5700000" cy="240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750" b="1" dirty="0">
                <a:solidFill>
                  <a:srgbClr val="1B8CA8"/>
                </a:solidFill>
              </a:rPr>
              <a:t>COUNTY       GROUP                            LINK                   p-VALUE    LAG    RESULT</a:t>
            </a:r>
          </a:p>
        </p:txBody>
      </p:sp>
      <p:sp>
        <p:nvSpPr>
          <p:cNvPr id="6" name="Sp6"/>
          <p:cNvSpPr/>
          <p:nvPr/>
        </p:nvSpPr>
        <p:spPr>
          <a:xfrm>
            <a:off x="700000" y="1320000"/>
            <a:ext cx="5700000" cy="23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790" b="1" dirty="0">
                <a:solidFill>
                  <a:srgbClr val="4DAC26"/>
                </a:solidFill>
              </a:rPr>
              <a:t>Marsabit     High-vulnerability (MPI 0.35)   Rainfall -&gt; Price      p = 0.040   lag 2  Significant (p&lt;0.05)</a:t>
            </a:r>
          </a:p>
          <a:p>
            <a:r>
              <a:rPr lang="en-US" sz="790" b="1" dirty="0">
                <a:solidFill>
                  <a:srgbClr val="4DAC26"/>
                </a:solidFill>
              </a:rPr>
              <a:t>Marsabit     High-vulnerability (MPI 0.35)   Price -&gt; Conflict      p = 0.021   lag 1  Significant (p&lt;0.05)</a:t>
            </a:r>
          </a:p>
          <a:p>
            <a:r>
              <a:rPr lang="en-US" sz="790" dirty="0">
                <a:solidFill>
                  <a:srgbClr val="FDAE61"/>
                </a:solidFill>
              </a:rPr>
              <a:t>Turkana      High-vulnerability (MPI 0.50)   Rainfall -&gt; Price      p = 0.077   lag 3  Marginal</a:t>
            </a:r>
          </a:p>
          <a:p>
            <a:r>
              <a:rPr lang="en-US" sz="790" dirty="0">
                <a:solidFill>
                  <a:srgbClr val="FDAE61"/>
                </a:solidFill>
              </a:rPr>
              <a:t>Turkana      High-vulnerability (MPI 0.50)   Price -&gt; Conflict      p = 0.073   lag 1  Marginal</a:t>
            </a:r>
          </a:p>
          <a:p>
            <a:r>
              <a:rPr lang="en-US" sz="790" dirty="0">
                <a:solidFill>
                  <a:srgbClr val="878787"/>
                </a:solidFill>
              </a:rPr>
              <a:t>Mandera      High-vulnerability (MPI 0.46)   Rainfall -&gt; Price      p = 0.499   lag 1  Not significant</a:t>
            </a:r>
          </a:p>
          <a:p>
            <a:r>
              <a:rPr lang="en-US" sz="790" dirty="0">
                <a:solidFill>
                  <a:srgbClr val="878787"/>
                </a:solidFill>
              </a:rPr>
              <a:t>Mandera      High-vulnerability (MPI 0.46)   Price -&gt; Conflict      p = 0.854   lag 4  Not significant</a:t>
            </a:r>
          </a:p>
          <a:p>
            <a:r>
              <a:rPr lang="en-US" sz="790" dirty="0">
                <a:solidFill>
                  <a:srgbClr val="878787"/>
                </a:solidFill>
              </a:rPr>
              <a:t>Kiambu       Negative control (MPI 0.07)     Both links             No data     n/a    Not testable (no WFP monitoring)</a:t>
            </a:r>
          </a:p>
          <a:p>
            <a:r>
              <a:rPr lang="en-US" sz="790" dirty="0">
                <a:solidFill>
                  <a:srgbClr val="878787"/>
                </a:solidFill>
              </a:rPr>
              <a:t>Nairobi      Negative control (MPI &lt;0.05)    Both links             No data     n/a    Not testable (no WFP monitoring)</a:t>
            </a:r>
          </a:p>
        </p:txBody>
      </p:sp>
      <p:sp>
        <p:nvSpPr>
          <p:cNvPr id="7" name="Sp7"/>
          <p:cNvSpPr/>
          <p:nvPr/>
        </p:nvSpPr>
        <p:spPr>
          <a:xfrm>
            <a:off x="846620" y="2967228"/>
            <a:ext cx="5700000" cy="728551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50" dirty="0">
                <a:solidFill>
                  <a:srgbClr val="878787"/>
                </a:solidFill>
              </a:rPr>
              <a:t>Reverse direction tested for all links. Non-significant in all counties. ~90 tests at alpha=0.05 produce 4-5 expected false positives; results interpreted conservatively (consistency across counties required). Absence of WFP price data in Kiambu and Nairobi is itself evidence: WFP monitors food-insecure markets only.</a:t>
            </a:r>
          </a:p>
        </p:txBody>
      </p:sp>
      <p:sp>
        <p:nvSpPr>
          <p:cNvPr id="8" name="Sp8"/>
          <p:cNvSpPr/>
          <p:nvPr/>
        </p:nvSpPr>
        <p:spPr>
          <a:xfrm>
            <a:off x="700000" y="4820000"/>
            <a:ext cx="57000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700" dirty="0">
                <a:solidFill>
                  <a:srgbClr val="878787"/>
                </a:solidFill>
              </a:rPr>
              <a:t>Understanding the Compound Crisis Cascade in Kenya: Analyzing Climate, Prices, and Conflict Dynamics</a:t>
            </a:r>
          </a:p>
        </p:txBody>
      </p:sp>
      <p:sp>
        <p:nvSpPr>
          <p:cNvPr id="20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21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22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23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24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25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26" name="Shape 6"/>
          <p:cNvSpPr/>
          <p:nvPr/>
        </p:nvSpPr>
        <p:spPr>
          <a:xfrm>
            <a:off x="6583680" y="114300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27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28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29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30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1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32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33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34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35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36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37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38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39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40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41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42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43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44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45" name="Shape 25"/>
          <p:cNvSpPr/>
          <p:nvPr/>
        </p:nvSpPr>
        <p:spPr>
          <a:xfrm>
            <a:off x="37060" y="1903201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46" name="Shape 26"/>
          <p:cNvSpPr/>
          <p:nvPr/>
        </p:nvSpPr>
        <p:spPr>
          <a:xfrm>
            <a:off x="448540" y="2314681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47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48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9" name="Shape 40">
            <a:extLst>
              <a:ext uri="{FF2B5EF4-FFF2-40B4-BE49-F238E27FC236}">
                <a16:creationId xmlns:a16="http://schemas.microsoft.com/office/drawing/2014/main" id="{A2331D25-AB62-9695-00B9-AEF4D48F711C}"/>
              </a:ext>
            </a:extLst>
          </p:cNvPr>
          <p:cNvSpPr/>
          <p:nvPr/>
        </p:nvSpPr>
        <p:spPr>
          <a:xfrm>
            <a:off x="448540" y="2726161"/>
            <a:ext cx="8321040" cy="0"/>
          </a:xfrm>
          <a:prstGeom prst="line">
            <a:avLst/>
          </a:prstGeom>
          <a:noFill/>
          <a:ln w="6350">
            <a:solidFill>
              <a:srgbClr val="3A506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RISK INDEX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lives in seven counties.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7472" y="1170432"/>
            <a:ext cx="4114800" cy="347472"/>
          </a:xfrm>
          <a:prstGeom prst="rect">
            <a:avLst/>
          </a:prstGeom>
          <a:solidFill>
            <a:srgbClr val="0E5F75"/>
          </a:solidFill>
          <a:ln w="12700">
            <a:solidFill>
              <a:srgbClr val="0E5F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1188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" y="1188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13632" y="1188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1554480"/>
            <a:ext cx="4114800" cy="39319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1554480"/>
            <a:ext cx="2078182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15544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" y="155448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Turkana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13632" y="15544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1975104"/>
            <a:ext cx="4114800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1975104"/>
            <a:ext cx="1911927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197510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51560" y="197510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Mandera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913632" y="197510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" y="2395728"/>
            <a:ext cx="4114800" cy="39319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2395728"/>
            <a:ext cx="1745673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239572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51560" y="2395728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Samburu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13632" y="239572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2816352"/>
            <a:ext cx="4114800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" y="2816352"/>
            <a:ext cx="1662545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281635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1560" y="281635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913632" y="281635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7472" y="3236976"/>
            <a:ext cx="4114800" cy="39319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3236976"/>
            <a:ext cx="1579418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32369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51560" y="3236976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 River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913632" y="32369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47472" y="3657600"/>
            <a:ext cx="4114800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" y="3657600"/>
            <a:ext cx="1454727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" y="365760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1560" y="365760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Pokot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913632" y="365760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7472" y="4078224"/>
            <a:ext cx="4114800" cy="39319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7472" y="4078224"/>
            <a:ext cx="1454727" cy="393192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" y="407822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1560" y="407822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Marsabit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913632" y="407822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709160" y="1170432"/>
            <a:ext cx="4069080" cy="352044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9160" y="1170432"/>
            <a:ext cx="406908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9204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 COMPONENTS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92040" y="1709928"/>
            <a:ext cx="274320" cy="274320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85232" y="1682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(MPI)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285232" y="19568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OPHI 2022 survey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892040" y="2313432"/>
            <a:ext cx="274320" cy="274320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85232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exposure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285232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frequency 2009-2020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92040" y="2916936"/>
            <a:ext cx="274320" cy="274320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85232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 stress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285232" y="3163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real maize, imputed for 38 counties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892040" y="3520440"/>
            <a:ext cx="274320" cy="274320"/>
          </a:xfrm>
          <a:prstGeom prst="ellipse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85232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intensity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285232" y="37673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100k, ACLED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892040" y="4224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rank uncertainty: 1,000 iterations, 95% CI</a:t>
            </a:r>
            <a:endParaRPr lang="en-US" sz="8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IPC Phase 3+ prevalence 2019-2025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undifferentiated interventions will miss the cascade signal entirely.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early warning and for research.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7472" y="1207008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1207008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38912" y="13121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months early warning window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" y="18470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below-normal long-rains season in March should trigger price monitoring by May-June and conflict early warning by July-August in ASAL counties. That window exists. It is not being used.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1188720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207008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13533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7 counties first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18470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is not a national phenomenon. National drought declarations dilute resources across 47 counties when the crisis lives in seven. Geographically undifferentiated responses will always underestimate need.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" y="2962656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2962656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38912" y="30998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ratchet demands a long-cycle lens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4632" y="360273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Single-event analysis understates cumulative stress. Households entering the 2022 La Nina event had a higher real price baseline than at any prior point. Emergency response architecture is not built to see this.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2962656"/>
            <a:ext cx="4206240" cy="15727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2962656"/>
            <a:ext cx="4206240" cy="45720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892040" y="30906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research agenda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360273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cascade is confirmed. The household-level behavioural mechanism is the core empirical question I am proposing to investigate at the MSc level: how do rising prices change conflict participation decisions, and can mobile money transaction data resolve the household-level link?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Compound Crisis Cascade in Kenya: Analyzing Climate, Prices, and Conflict Dynamics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/>
          <p:nvPr/>
        </p:nvSpPr>
        <p:spPr>
          <a:xfrm>
            <a:off x="700000" y="18288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00" b="1" dirty="0">
                <a:solidFill>
                  <a:srgbClr val="1B8CA8"/>
                </a:solidFill>
              </a:rPr>
              <a:t>LIMITATIONS</a:t>
            </a:r>
          </a:p>
        </p:txBody>
      </p:sp>
      <p:sp>
        <p:nvSpPr>
          <p:cNvPr id="3" name="Sp3"/>
          <p:cNvSpPr/>
          <p:nvPr/>
        </p:nvSpPr>
        <p:spPr>
          <a:xfrm>
            <a:off x="700000" y="457200"/>
            <a:ext cx="570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900" b="1" dirty="0">
                <a:solidFill>
                  <a:srgbClr val="FFFFFF"/>
                </a:solidFill>
              </a:rPr>
              <a:t>What a user of this analysis should know.</a:t>
            </a:r>
          </a:p>
        </p:txBody>
      </p:sp>
      <p:sp>
        <p:nvSpPr>
          <p:cNvPr id="4" name="Sp4"/>
          <p:cNvSpPr/>
          <p:nvPr/>
        </p:nvSpPr>
        <p:spPr>
          <a:xfrm>
            <a:off x="700000" y="1050000"/>
            <a:ext cx="5700000" cy="257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Predictive precedence, not structural causation</a:t>
            </a:r>
          </a:p>
        </p:txBody>
      </p:sp>
      <p:sp>
        <p:nvSpPr>
          <p:cNvPr id="5" name="Sp5"/>
          <p:cNvSpPr/>
          <p:nvPr/>
        </p:nvSpPr>
        <p:spPr>
          <a:xfrm>
            <a:off x="700000" y="132000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850" dirty="0">
                <a:solidFill>
                  <a:srgbClr val="C8D8E8"/>
                </a:solidFill>
              </a:rPr>
              <a:t>Granger tests confirm temporal precedence, not structural causation. Unmeasured confounders (governance, aid distribution, road access) may drive both variables. The household-level mechanism is unresolved by aggregate analysis.</a:t>
            </a:r>
          </a:p>
        </p:txBody>
      </p:sp>
      <p:sp>
        <p:nvSpPr>
          <p:cNvPr id="6" name="Sp6"/>
          <p:cNvSpPr/>
          <p:nvPr/>
        </p:nvSpPr>
        <p:spPr>
          <a:xfrm>
            <a:off x="700000" y="1680000"/>
            <a:ext cx="5700000" cy="257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Food price data gap from 2021</a:t>
            </a:r>
          </a:p>
        </p:txBody>
      </p:sp>
      <p:sp>
        <p:nvSpPr>
          <p:cNvPr id="7" name="Sp7"/>
          <p:cNvSpPr/>
          <p:nvPr/>
        </p:nvSpPr>
        <p:spPr>
          <a:xfrm>
            <a:off x="700000" y="195000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850" dirty="0">
                <a:solidFill>
                  <a:srgbClr val="C8D8E8"/>
                </a:solidFill>
              </a:rPr>
              <a:t>WFP VAM price coverage ends 2020-2021 for most ASAL counties. The 2022 La Nina window shows rainfall and conflict signals but not price transmission. The primary Granger analysis window is 2006-2020.</a:t>
            </a:r>
          </a:p>
        </p:txBody>
      </p:sp>
      <p:sp>
        <p:nvSpPr>
          <p:cNvPr id="8" name="Sp8"/>
          <p:cNvSpPr/>
          <p:nvPr/>
        </p:nvSpPr>
        <p:spPr>
          <a:xfrm>
            <a:off x="700000" y="2310000"/>
            <a:ext cx="5700000" cy="257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MPI and population data are static</a:t>
            </a:r>
          </a:p>
        </p:txBody>
      </p:sp>
      <p:sp>
        <p:nvSpPr>
          <p:cNvPr id="9" name="Sp9"/>
          <p:cNvSpPr/>
          <p:nvPr/>
        </p:nvSpPr>
        <p:spPr>
          <a:xfrm>
            <a:off x="700000" y="258000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850" dirty="0">
                <a:solidFill>
                  <a:srgbClr val="C8D8E8"/>
                </a:solidFill>
              </a:rPr>
              <a:t>MPI is from the 2022 Oxford OPHI survey, which post-dates the 2009-2020 analysis window. County poverty rankings are assumed stable. Population data is from the 2019 census (single year).</a:t>
            </a:r>
          </a:p>
        </p:txBody>
      </p:sp>
      <p:sp>
        <p:nvSpPr>
          <p:cNvPr id="10" name="Sp10"/>
          <p:cNvSpPr/>
          <p:nvPr/>
        </p:nvSpPr>
        <p:spPr>
          <a:xfrm>
            <a:off x="700000" y="2940000"/>
            <a:ext cx="5700000" cy="257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Food price imputed for 38 counties</a:t>
            </a:r>
          </a:p>
        </p:txBody>
      </p:sp>
      <p:sp>
        <p:nvSpPr>
          <p:cNvPr id="11" name="Sp11"/>
          <p:cNvSpPr/>
          <p:nvPr/>
        </p:nvSpPr>
        <p:spPr>
          <a:xfrm>
            <a:off x="700000" y="3210000"/>
            <a:ext cx="5700000" cy="28575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850" dirty="0">
                <a:solidFill>
                  <a:srgbClr val="C8D8E8"/>
                </a:solidFill>
              </a:rPr>
              <a:t>WFP VAM directly monitors 9 counties. The remaining 38 counties use former-province median imputation. Imputed values are flagged throughout and excluded from the primary Granger tests.</a:t>
            </a:r>
          </a:p>
        </p:txBody>
      </p:sp>
      <p:sp>
        <p:nvSpPr>
          <p:cNvPr id="12" name="Sp12"/>
          <p:cNvSpPr/>
          <p:nvPr/>
        </p:nvSpPr>
        <p:spPr>
          <a:xfrm>
            <a:off x="700000" y="4820000"/>
            <a:ext cx="57000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700" dirty="0">
                <a:solidFill>
                  <a:srgbClr val="878787"/>
                </a:solidFill>
              </a:rPr>
              <a:t>Understanding the Compound Crisis Cascade in Kenya: Analyzing Climate, Prices, and Conflict Dynamics</a:t>
            </a:r>
          </a:p>
        </p:txBody>
      </p:sp>
      <p:sp>
        <p:nvSpPr>
          <p:cNvPr id="100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01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02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03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4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105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06" name="Shape 6"/>
          <p:cNvSpPr/>
          <p:nvPr/>
        </p:nvSpPr>
        <p:spPr>
          <a:xfrm>
            <a:off x="6583680" y="114300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07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8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109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10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1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12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13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14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15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116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17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18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119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20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121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22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123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124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125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126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127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128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8453" y="4471604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2917" y="4416552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1430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notebooks.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47472" y="1207008"/>
            <a:ext cx="84582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1207008"/>
            <a:ext cx="45720" cy="658368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4300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 Audit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0" y="129844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and geographic overlap across 6 datasets. Vulnerability tier classification. 23-county analysis scope confirmed.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1929916"/>
            <a:ext cx="84582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1938528"/>
            <a:ext cx="45720" cy="658368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300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20299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deflation, conflict disaggregation, PEV exclusion, panel construction. Every decision documented with justification.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2697480"/>
            <a:ext cx="84582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2670048"/>
            <a:ext cx="45720" cy="658368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2743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43000" y="2761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40480" y="276148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event deep-dives (2011, 2017, 2022). Tier comparisons. Correlation matrix. 12 figures produced.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3401568"/>
            <a:ext cx="84582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7472" y="3401568"/>
            <a:ext cx="45720" cy="658368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3474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4300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Correlation Analysis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40480" y="34930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tests, cross-correlation functions, Granger causality in both directions. Lag structure confirmed.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7472" y="4133088"/>
            <a:ext cx="845820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4133088"/>
            <a:ext cx="45720" cy="658368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Risk Index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422452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VRI for all 47 counties. Bootstrap rank uncertainty 1,000 iterations. IPC Phase 3+ validation.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data publicly available, GitHub: compound-crisis-cascade-kenya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621792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621792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21792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14300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143000"/>
            <a:ext cx="502920" cy="502920"/>
          </a:xfrm>
          <a:prstGeom prst="rect">
            <a:avLst/>
          </a:prstGeom>
          <a:solidFill>
            <a:srgbClr val="1B8CA8">
              <a:alpha val="80000"/>
            </a:srgbClr>
          </a:solidFill>
          <a:ln w="12700">
            <a:solidFill>
              <a:srgbClr val="1B8CA8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143000"/>
            <a:ext cx="502920" cy="502920"/>
          </a:xfrm>
          <a:prstGeom prst="rect">
            <a:avLst/>
          </a:prstGeom>
          <a:solidFill>
            <a:srgbClr val="1B8CA8">
              <a:alpha val="85000"/>
            </a:srgbClr>
          </a:solidFill>
          <a:ln w="12700">
            <a:solidFill>
              <a:srgbClr val="1B8CA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502920" cy="502920"/>
          </a:xfrm>
          <a:prstGeom prst="rect">
            <a:avLst/>
          </a:prstGeom>
          <a:solidFill>
            <a:srgbClr val="1B8CA8">
              <a:alpha val="70000"/>
            </a:srgbClr>
          </a:solidFill>
          <a:ln w="12700">
            <a:solidFill>
              <a:srgbClr val="1B8C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2194560"/>
            <a:ext cx="502920" cy="502920"/>
          </a:xfrm>
          <a:prstGeom prst="rect">
            <a:avLst/>
          </a:prstGeom>
          <a:solidFill>
            <a:srgbClr val="1B8CA8">
              <a:alpha val="65000"/>
            </a:srgbClr>
          </a:solidFill>
          <a:ln w="12700">
            <a:solidFill>
              <a:srgbClr val="1B8CA8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715768"/>
            <a:ext cx="502920" cy="502920"/>
          </a:xfrm>
          <a:prstGeom prst="rect">
            <a:avLst/>
          </a:prstGeom>
          <a:solidFill>
            <a:srgbClr val="1B8CA8">
              <a:alpha val="60000"/>
            </a:srgbClr>
          </a:solidFill>
          <a:ln w="12700">
            <a:solidFill>
              <a:srgbClr val="1B8CA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715768"/>
            <a:ext cx="502920" cy="502920"/>
          </a:xfrm>
          <a:prstGeom prst="rect">
            <a:avLst/>
          </a:prstGeom>
          <a:solidFill>
            <a:srgbClr val="1B8CA8">
              <a:alpha val="75000"/>
            </a:srgbClr>
          </a:solidFill>
          <a:ln w="12700">
            <a:solidFill>
              <a:srgbClr val="1B8CA8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236976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36976"/>
            <a:ext cx="502920" cy="502920"/>
          </a:xfrm>
          <a:prstGeom prst="rect">
            <a:avLst/>
          </a:prstGeom>
          <a:solidFill>
            <a:srgbClr val="1B8CA8">
              <a:alpha val="55000"/>
            </a:srgbClr>
          </a:solidFill>
          <a:ln w="12700">
            <a:solidFill>
              <a:srgbClr val="1B8CA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749040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3749040"/>
            <a:ext cx="502920" cy="502920"/>
          </a:xfrm>
          <a:prstGeom prst="rect">
            <a:avLst/>
          </a:prstGeom>
          <a:solidFill>
            <a:srgbClr val="1B8CA8">
              <a:alpha val="50000"/>
            </a:srgbClr>
          </a:solidFill>
          <a:ln w="12700">
            <a:solidFill>
              <a:srgbClr val="1B8CA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270248"/>
            <a:ext cx="502920" cy="502920"/>
          </a:xfrm>
          <a:prstGeom prst="rect">
            <a:avLst/>
          </a:prstGeom>
          <a:solidFill>
            <a:srgbClr val="1B8CA8">
              <a:alpha val="35000"/>
            </a:srgbClr>
          </a:solidFill>
          <a:ln w="12700">
            <a:solidFill>
              <a:srgbClr val="1B8CA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270248"/>
            <a:ext cx="502920" cy="502920"/>
          </a:xfrm>
          <a:prstGeom prst="rect">
            <a:avLst/>
          </a:prstGeom>
          <a:solidFill>
            <a:srgbClr val="1B8CA8">
              <a:alpha val="45000"/>
            </a:srgbClr>
          </a:solidFill>
          <a:ln w="12700">
            <a:solidFill>
              <a:srgbClr val="1B8C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270248"/>
            <a:ext cx="502920" cy="502920"/>
          </a:xfrm>
          <a:prstGeom prst="rect">
            <a:avLst/>
          </a:prstGeom>
          <a:solidFill>
            <a:srgbClr val="1B8CA8">
              <a:alpha val="40000"/>
            </a:srgbClr>
          </a:solidFill>
          <a:ln w="12700">
            <a:solidFill>
              <a:srgbClr val="1B8CA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457200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9144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828800"/>
            <a:ext cx="411480" cy="411480"/>
          </a:xfrm>
          <a:prstGeom prst="rect">
            <a:avLst/>
          </a:prstGeom>
          <a:solidFill>
            <a:srgbClr val="1B8CA8">
              <a:alpha val="20000"/>
            </a:srgbClr>
          </a:solidFill>
          <a:ln w="12700">
            <a:solidFill>
              <a:srgbClr val="1B8CA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70" y="1349993"/>
            <a:ext cx="411480" cy="411480"/>
          </a:xfrm>
          <a:prstGeom prst="rect">
            <a:avLst/>
          </a:prstGeom>
          <a:solidFill>
            <a:srgbClr val="1B8CA8">
              <a:alpha val="25000"/>
            </a:srgbClr>
          </a:solidFill>
          <a:ln w="12700">
            <a:solidFill>
              <a:srgbClr val="1B8CA8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3657600"/>
            <a:ext cx="411480" cy="411480"/>
          </a:xfrm>
          <a:prstGeom prst="rect">
            <a:avLst/>
          </a:prstGeom>
          <a:solidFill>
            <a:srgbClr val="1B8CA8">
              <a:alpha val="22000"/>
            </a:srgbClr>
          </a:solidFill>
          <a:ln w="12700">
            <a:solidFill>
              <a:srgbClr val="1B8CA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solidFill>
            <a:srgbClr val="1B8CA8">
              <a:alpha val="18000"/>
            </a:srgbClr>
          </a:solidFill>
          <a:ln w="12700">
            <a:solidFill>
              <a:srgbClr val="1B8CA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CA8"/>
          </a:solidFill>
          <a:ln w="12700">
            <a:solidFill>
              <a:srgbClr val="1B8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280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48640" y="20299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B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Mutwiri·  BI Analyst and Data Scientist  ·  Nairobi, Kenya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2514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at the intersection of humanitarian data,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action, and behavioural data science.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246120"/>
            <a:ext cx="3657600" cy="0"/>
          </a:xfrm>
          <a:prstGeom prst="line">
            <a:avLst/>
          </a:prstGeom>
          <a:noFill/>
          <a:ln w="10160">
            <a:solidFill>
              <a:srgbClr val="3A50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3238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050" dirty="0" err="1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MutwiriC</a:t>
            </a:r>
            <a:r>
              <a:rPr lang="en-US" sz="10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/compound-crisis-cascade-</a:t>
            </a:r>
            <a:r>
              <a:rPr lang="en-US" sz="1050" dirty="0" err="1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346557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linkedin.com/in/christinekmutwiri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Crisis Cascade: Kenya  |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1481</Words>
  <Application>Microsoft Office PowerPoint</Application>
  <PresentationFormat>On-screen Show (16:9)</PresentationFormat>
  <Paragraphs>184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Crisis Cascade: Kenya</dc:title>
  <dc:subject>PptxGenJS Presentation</dc:subject>
  <dc:creator>PptxGenJS</dc:creator>
  <cp:lastModifiedBy>Christine Mutwiri</cp:lastModifiedBy>
  <cp:revision>5</cp:revision>
  <dcterms:created xsi:type="dcterms:W3CDTF">2026-06-05T16:28:26Z</dcterms:created>
  <dcterms:modified xsi:type="dcterms:W3CDTF">2026-06-07T12:30:03Z</dcterms:modified>
</cp:coreProperties>
</file>